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68" r:id="rId13"/>
    <p:sldId id="2146847055" r:id="rId14"/>
    <p:sldId id="269" r:id="rId15"/>
    <p:sldId id="21468470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8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924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xmlns="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ake-news-detector-ai-0izj.onrender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clmentbisaillon/fake-and-real-news-datase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ake-news-detector-ai-0izj.onrender.com/" TargetMode="External"/><Relationship Id="rId2" Type="http://schemas.openxmlformats.org/officeDocument/2006/relationships/hyperlink" Target="https://github.com/Aabidnabi/fake-news-detector-ai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B0F0"/>
                </a:solidFill>
              </a:rPr>
              <a:t>AI- BASED FAKE </a:t>
            </a:r>
            <a:r>
              <a:rPr lang="en-IN" b="1" dirty="0">
                <a:solidFill>
                  <a:srgbClr val="00B0F0"/>
                </a:solidFill>
              </a:rPr>
              <a:t>NEWS DETECTOR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Name- </a:t>
            </a:r>
            <a:r>
              <a:rPr lang="en-US" sz="2000" b="1" dirty="0" err="1" smtClean="0">
                <a:solidFill>
                  <a:schemeClr val="bg1"/>
                </a:solidFill>
                <a:latin typeface="Arial"/>
                <a:cs typeface="Arial"/>
              </a:rPr>
              <a:t>Aabid</a:t>
            </a:r>
            <a:r>
              <a:rPr lang="en-US" sz="2000" b="1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  <a:latin typeface="Arial"/>
                <a:cs typeface="Arial"/>
              </a:rPr>
              <a:t>Nabi</a:t>
            </a:r>
            <a:r>
              <a:rPr lang="en-US" sz="2000" b="1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  <a:latin typeface="Arial"/>
                <a:cs typeface="Arial"/>
              </a:rPr>
              <a:t>Tantry</a:t>
            </a:r>
            <a:endParaRPr lang="en-US" sz="20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</a:t>
            </a:r>
            <a:r>
              <a:rPr lang="en-US" sz="2000" b="1" dirty="0" smtClean="0">
                <a:solidFill>
                  <a:schemeClr val="bg1"/>
                </a:solidFill>
                <a:latin typeface="Arial"/>
                <a:cs typeface="Arial"/>
              </a:rPr>
              <a:t>NIT Srinagar</a:t>
            </a:r>
            <a:endParaRPr lang="en-US" sz="20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</a:t>
            </a:r>
            <a:r>
              <a:rPr lang="en-US" sz="2000" b="1" dirty="0" smtClean="0">
                <a:solidFill>
                  <a:schemeClr val="bg1"/>
                </a:solidFill>
                <a:latin typeface="Arial"/>
                <a:cs typeface="Arial"/>
              </a:rPr>
              <a:t>Computer Science &amp; Engineering</a:t>
            </a:r>
            <a:endParaRPr lang="en-US" sz="20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452403" y="1302327"/>
            <a:ext cx="111584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Background</a:t>
            </a:r>
          </a:p>
          <a:p>
            <a:r>
              <a:rPr lang="en-US" dirty="0"/>
              <a:t>The rapid growth of social media platforms has significantly increased the spread of misinformation. Studies indicate that a majority of adults consume news primarily through online platforms, where verification mechanisms are weak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Core Issues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Fake </a:t>
            </a:r>
            <a:r>
              <a:rPr lang="en-US" dirty="0"/>
              <a:t>news propagates significantly faster than verified </a:t>
            </a:r>
            <a:r>
              <a:rPr lang="en-US" dirty="0" smtClean="0"/>
              <a:t>information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Manual </a:t>
            </a:r>
            <a:r>
              <a:rPr lang="en-US" dirty="0"/>
              <a:t>fact checking is time consuming and requires domain </a:t>
            </a:r>
            <a:r>
              <a:rPr lang="en-US" dirty="0" smtClean="0"/>
              <a:t>expertise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Students and researchers struggle to validate information </a:t>
            </a:r>
            <a:r>
              <a:rPr lang="en-US" dirty="0" smtClean="0"/>
              <a:t>authenticity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Misinformation influences public opinion, academic research, and decision making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chemeClr val="accent2"/>
                </a:solidFill>
              </a:rPr>
              <a:t>Impact</a:t>
            </a:r>
            <a:endParaRPr lang="en-US" b="1" dirty="0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Spread </a:t>
            </a:r>
            <a:r>
              <a:rPr lang="en-US" dirty="0"/>
              <a:t>of false </a:t>
            </a:r>
            <a:r>
              <a:rPr lang="en-US" dirty="0" smtClean="0"/>
              <a:t>narratives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Poor quality academic </a:t>
            </a:r>
            <a:r>
              <a:rPr lang="en-US" dirty="0" smtClean="0"/>
              <a:t>references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Manipulation </a:t>
            </a:r>
            <a:r>
              <a:rPr lang="en-US" dirty="0"/>
              <a:t>of public </a:t>
            </a:r>
            <a:r>
              <a:rPr lang="en-US" dirty="0" smtClean="0"/>
              <a:t>perception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Reduced trust in digital media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965" y="2272145"/>
            <a:ext cx="4590472" cy="299258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41672" y="1385455"/>
            <a:ext cx="728916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AI Powered Fake News Detection System</a:t>
            </a:r>
          </a:p>
          <a:p>
            <a:r>
              <a:rPr lang="en-US" dirty="0"/>
              <a:t>The proposed system is an AI based automated Fake News Detection platform that classifies news articles as Real or Fake using supervised machine learning techniques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Key </a:t>
            </a:r>
            <a:r>
              <a:rPr lang="en-US" b="1" dirty="0" smtClean="0">
                <a:solidFill>
                  <a:schemeClr val="accent2"/>
                </a:solidFill>
              </a:rPr>
              <a:t>Features</a:t>
            </a:r>
            <a:endParaRPr lang="en-US" b="1" dirty="0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Real time news verification through text </a:t>
            </a:r>
            <a:r>
              <a:rPr lang="en-US" dirty="0" smtClean="0"/>
              <a:t>input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High </a:t>
            </a:r>
            <a:r>
              <a:rPr lang="en-US" dirty="0"/>
              <a:t>accuracy classification model trained on more than 44,000 </a:t>
            </a:r>
            <a:r>
              <a:rPr lang="en-US" dirty="0" smtClean="0"/>
              <a:t>articles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Clean and responsive web </a:t>
            </a:r>
            <a:r>
              <a:rPr lang="en-US" dirty="0" smtClean="0"/>
              <a:t>interface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Dark and light mode </a:t>
            </a:r>
            <a:r>
              <a:rPr lang="en-US" dirty="0" smtClean="0"/>
              <a:t>support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History tracking for recent </a:t>
            </a:r>
            <a:r>
              <a:rPr lang="en-US" dirty="0" smtClean="0"/>
              <a:t>predictions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Social </a:t>
            </a:r>
            <a:r>
              <a:rPr lang="en-US" dirty="0"/>
              <a:t>sharing functionality for transparency</a:t>
            </a:r>
          </a:p>
          <a:p>
            <a:endParaRPr lang="en-US" dirty="0" smtClean="0"/>
          </a:p>
          <a:p>
            <a:r>
              <a:rPr lang="en-US" dirty="0"/>
              <a:t>The system transforms raw textual input into structured numerical representations and applies a trained classification model to predict authenticity.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</a:t>
            </a:r>
            <a:r>
              <a:rPr lang="en-US" sz="4400" b="1" dirty="0" smtClean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DEVELOPMENT </a:t>
            </a:r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2509" y="1293091"/>
            <a:ext cx="1085272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End to End Pipeline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User Input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user submits a news article through the web </a:t>
            </a:r>
            <a:r>
              <a:rPr lang="en-US" dirty="0" smtClean="0"/>
              <a:t>interface.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Text </a:t>
            </a:r>
            <a:r>
              <a:rPr lang="en-US" dirty="0">
                <a:solidFill>
                  <a:srgbClr val="FF0000"/>
                </a:solidFill>
              </a:rPr>
              <a:t>Preprocessing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Lowercase normalization</a:t>
            </a:r>
            <a:br>
              <a:rPr lang="en-US" dirty="0"/>
            </a:br>
            <a:r>
              <a:rPr lang="en-US" dirty="0"/>
              <a:t>• Removal of punctuation and special characters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smtClean="0"/>
              <a:t>Stop word </a:t>
            </a:r>
            <a:r>
              <a:rPr lang="en-US" dirty="0"/>
              <a:t>removal</a:t>
            </a:r>
            <a:br>
              <a:rPr lang="en-US" dirty="0"/>
            </a:br>
            <a:r>
              <a:rPr lang="en-US" dirty="0"/>
              <a:t>• Removal of URLs and HTML </a:t>
            </a:r>
            <a:r>
              <a:rPr lang="en-US" dirty="0" smtClean="0"/>
              <a:t>tags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Feature </a:t>
            </a:r>
            <a:r>
              <a:rPr lang="en-US" dirty="0">
                <a:solidFill>
                  <a:srgbClr val="FF0000"/>
                </a:solidFill>
              </a:rPr>
              <a:t>Extraction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TF IDF vectorization</a:t>
            </a:r>
            <a:br>
              <a:rPr lang="en-US" dirty="0"/>
            </a:br>
            <a:r>
              <a:rPr lang="en-US" dirty="0"/>
              <a:t>• Extraction of top 10,000 textual features</a:t>
            </a:r>
            <a:br>
              <a:rPr lang="en-US" dirty="0"/>
            </a:br>
            <a:r>
              <a:rPr lang="en-US" dirty="0"/>
              <a:t>• Inclusion of unigrams, bigrams, and </a:t>
            </a:r>
            <a:r>
              <a:rPr lang="en-US" dirty="0" smtClean="0"/>
              <a:t>trigrams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Model </a:t>
            </a:r>
            <a:r>
              <a:rPr lang="en-US" dirty="0">
                <a:solidFill>
                  <a:srgbClr val="FF0000"/>
                </a:solidFill>
              </a:rPr>
              <a:t>Prediction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Logistic Regression classifier</a:t>
            </a:r>
            <a:br>
              <a:rPr lang="en-US" dirty="0"/>
            </a:br>
            <a:r>
              <a:rPr lang="en-US" dirty="0"/>
              <a:t>• Probability based </a:t>
            </a:r>
            <a:r>
              <a:rPr lang="en-US" dirty="0" smtClean="0"/>
              <a:t>classification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Result </a:t>
            </a:r>
            <a:r>
              <a:rPr lang="en-US" dirty="0">
                <a:solidFill>
                  <a:srgbClr val="FF0000"/>
                </a:solidFill>
              </a:rPr>
              <a:t>Display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Real or Fake prediction</a:t>
            </a:r>
            <a:br>
              <a:rPr lang="en-US" dirty="0"/>
            </a:br>
            <a:r>
              <a:rPr lang="en-US" dirty="0"/>
              <a:t>• Confidence percentage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724072" y="1570090"/>
            <a:ext cx="501534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accent1"/>
                </a:solidFill>
              </a:rPr>
              <a:t>Technologies Used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Programming Language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smtClean="0"/>
              <a:t>Python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solidFill>
                  <a:srgbClr val="FF0000"/>
                </a:solidFill>
              </a:rPr>
              <a:t>Machine </a:t>
            </a:r>
            <a:r>
              <a:rPr lang="en-IN" dirty="0">
                <a:solidFill>
                  <a:srgbClr val="FF0000"/>
                </a:solidFill>
              </a:rPr>
              <a:t>Learning and NLP Libraries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Scikit learn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smtClean="0"/>
              <a:t>NLTK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solidFill>
                  <a:srgbClr val="FF0000"/>
                </a:solidFill>
              </a:rPr>
              <a:t>Web </a:t>
            </a:r>
            <a:r>
              <a:rPr lang="en-IN" dirty="0">
                <a:solidFill>
                  <a:srgbClr val="FF0000"/>
                </a:solidFill>
              </a:rPr>
              <a:t>Framework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smtClean="0"/>
              <a:t>Flask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solidFill>
                  <a:srgbClr val="FF0000"/>
                </a:solidFill>
              </a:rPr>
              <a:t>Frontend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HTML5</a:t>
            </a:r>
            <a:br>
              <a:rPr lang="en-IN" dirty="0"/>
            </a:br>
            <a:r>
              <a:rPr lang="en-IN" dirty="0"/>
              <a:t>• CSS3</a:t>
            </a:r>
            <a:br>
              <a:rPr lang="en-IN" dirty="0"/>
            </a:br>
            <a:r>
              <a:rPr lang="en-IN" dirty="0"/>
              <a:t>• Bootstrap 5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smtClean="0"/>
              <a:t>JavaScript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solidFill>
                  <a:srgbClr val="FF0000"/>
                </a:solidFill>
              </a:rPr>
              <a:t>Deployment </a:t>
            </a:r>
            <a:r>
              <a:rPr lang="en-IN" dirty="0">
                <a:solidFill>
                  <a:srgbClr val="FF0000"/>
                </a:solidFill>
              </a:rPr>
              <a:t>Platform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Render </a:t>
            </a:r>
            <a:r>
              <a:rPr lang="en-IN" dirty="0" smtClean="0"/>
              <a:t>Cloud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solidFill>
                  <a:srgbClr val="FF0000"/>
                </a:solidFill>
              </a:rPr>
              <a:t>Version Control</a:t>
            </a:r>
          </a:p>
          <a:p>
            <a:r>
              <a:rPr lang="en-IN" dirty="0"/>
              <a:t> </a:t>
            </a:r>
            <a:r>
              <a:rPr lang="en-IN" dirty="0" smtClean="0"/>
              <a:t>    • </a:t>
            </a:r>
            <a:r>
              <a:rPr lang="en-IN" dirty="0"/>
              <a:t>Git and GitHub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77090" y="1133356"/>
                <a:ext cx="6991927" cy="5724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u="sng" dirty="0" smtClean="0">
                    <a:solidFill>
                      <a:schemeClr val="accent1"/>
                    </a:solidFill>
                  </a:rPr>
                  <a:t>Algorithm</a:t>
                </a:r>
              </a:p>
              <a:p>
                <a:r>
                  <a:rPr lang="en-IN" dirty="0"/>
                  <a:t>The primary algorithm used is Logistic Regression, a probabilistic discriminative classifier.</a:t>
                </a:r>
              </a:p>
              <a:p>
                <a:r>
                  <a:rPr lang="en-IN" dirty="0"/>
                  <a:t>For a feature vector x ∈ </a:t>
                </a:r>
                <a:r>
                  <a:rPr lang="en-IN" dirty="0" err="1"/>
                  <a:t>R^n</a:t>
                </a:r>
                <a:r>
                  <a:rPr lang="en-IN" dirty="0"/>
                  <a:t>, the model estimates</a:t>
                </a:r>
                <a:r>
                  <a:rPr lang="en-IN" dirty="0" smtClean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)=1/(1+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N" dirty="0" smtClean="0"/>
                  <a:t> x))</a:t>
                </a:r>
                <a:endParaRPr lang="en-IN" dirty="0"/>
              </a:p>
              <a:p>
                <a:r>
                  <a:rPr lang="en-IN" dirty="0" smtClean="0"/>
                  <a:t>Where</a:t>
                </a:r>
                <a:r>
                  <a:rPr lang="en-IN" dirty="0"/>
                  <a:t/>
                </a:r>
                <a:br>
                  <a:rPr lang="en-IN" dirty="0"/>
                </a:br>
                <a:r>
                  <a:rPr lang="en-IN" dirty="0"/>
                  <a:t>w is the learned parameter vector</a:t>
                </a:r>
                <a:br>
                  <a:rPr lang="en-IN" dirty="0"/>
                </a:br>
                <a:r>
                  <a:rPr lang="en-IN" dirty="0"/>
                  <a:t>x is the TF IDF feature representation</a:t>
                </a:r>
              </a:p>
              <a:p>
                <a:r>
                  <a:rPr lang="en-IN" dirty="0"/>
                  <a:t>Training is performed by minimizing the regularized logistic loss function</a:t>
                </a:r>
                <a:r>
                  <a:rPr lang="en-IN" dirty="0" smtClean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/>
                        <m:t>L</m:t>
                      </m:r>
                      <m:r>
                        <m:rPr>
                          <m:nor/>
                        </m:rPr>
                        <a:rPr lang="en-IN" dirty="0"/>
                        <m:t>(</m:t>
                      </m:r>
                      <m:r>
                        <m:rPr>
                          <m:nor/>
                        </m:rPr>
                        <a:rPr lang="en-IN" dirty="0"/>
                        <m:t>w</m:t>
                      </m:r>
                      <m:r>
                        <m:rPr>
                          <m:nor/>
                        </m:rPr>
                        <a:rPr lang="en-IN" dirty="0"/>
                        <m:t>) = − </m:t>
                      </m:r>
                      <m:r>
                        <m:rPr>
                          <m:nor/>
                        </m:rPr>
                        <a:rPr lang="el-GR" dirty="0"/>
                        <m:t>Σ</m:t>
                      </m:r>
                      <m:r>
                        <m:rPr>
                          <m:nor/>
                        </m:rPr>
                        <a:rPr lang="el-GR" dirty="0"/>
                        <m:t> [ </m:t>
                      </m:r>
                      <m:r>
                        <m:rPr>
                          <m:nor/>
                        </m:rPr>
                        <a:rPr lang="en-IN" dirty="0"/>
                        <m:t>yi</m:t>
                      </m:r>
                      <m:r>
                        <m:rPr>
                          <m:nor/>
                        </m:rPr>
                        <a:rPr lang="en-IN" dirty="0"/>
                        <m:t> </m:t>
                      </m:r>
                      <m:r>
                        <m:rPr>
                          <m:nor/>
                        </m:rPr>
                        <a:rPr lang="en-IN" dirty="0"/>
                        <m:t>log</m:t>
                      </m:r>
                      <m:r>
                        <m:rPr>
                          <m:nor/>
                        </m:rPr>
                        <a:rPr lang="en-IN" dirty="0"/>
                        <m:t>(</m:t>
                      </m:r>
                      <m:r>
                        <m:rPr>
                          <m:nor/>
                        </m:rPr>
                        <a:rPr lang="en-IN" dirty="0"/>
                        <m:t>pi</m:t>
                      </m:r>
                      <m:r>
                        <m:rPr>
                          <m:nor/>
                        </m:rPr>
                        <a:rPr lang="en-IN" dirty="0"/>
                        <m:t>) + (1 − </m:t>
                      </m:r>
                      <m:r>
                        <m:rPr>
                          <m:nor/>
                        </m:rPr>
                        <a:rPr lang="en-IN" dirty="0"/>
                        <m:t>yi</m:t>
                      </m:r>
                      <m:r>
                        <m:rPr>
                          <m:nor/>
                        </m:rPr>
                        <a:rPr lang="en-IN" dirty="0"/>
                        <m:t>) </m:t>
                      </m:r>
                      <m:r>
                        <m:rPr>
                          <m:nor/>
                        </m:rPr>
                        <a:rPr lang="en-IN" dirty="0"/>
                        <m:t>log</m:t>
                      </m:r>
                      <m:r>
                        <m:rPr>
                          <m:nor/>
                        </m:rPr>
                        <a:rPr lang="en-IN" dirty="0"/>
                        <m:t>(1 − </m:t>
                      </m:r>
                      <m:r>
                        <m:rPr>
                          <m:nor/>
                        </m:rPr>
                        <a:rPr lang="en-IN" dirty="0"/>
                        <m:t>pi</m:t>
                      </m:r>
                      <m:r>
                        <m:rPr>
                          <m:nor/>
                        </m:rPr>
                        <a:rPr lang="en-IN" dirty="0"/>
                        <m:t>) ] + </m:t>
                      </m:r>
                      <m:r>
                        <m:rPr>
                          <m:nor/>
                        </m:rPr>
                        <a:rPr lang="el-GR" dirty="0"/>
                        <m:t>λ</m:t>
                      </m:r>
                      <m:r>
                        <m:rPr>
                          <m:nor/>
                        </m:rPr>
                        <a:rPr lang="el-GR" dirty="0"/>
                        <m:t> ||</m:t>
                      </m:r>
                      <m:r>
                        <m:rPr>
                          <m:nor/>
                        </m:rPr>
                        <a:rPr lang="en-IN" dirty="0"/>
                        <m:t>w</m:t>
                      </m:r>
                      <m:r>
                        <m:rPr>
                          <m:nor/>
                        </m:rPr>
                        <a:rPr lang="en-IN" dirty="0"/>
                        <m:t>||²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 smtClean="0"/>
                  <a:t>Where</a:t>
                </a:r>
                <a:r>
                  <a:rPr lang="en-IN" dirty="0"/>
                  <a:t/>
                </a:r>
                <a:br>
                  <a:rPr lang="en-IN" dirty="0"/>
                </a:br>
                <a:r>
                  <a:rPr lang="el-GR" dirty="0"/>
                  <a:t>λ </a:t>
                </a:r>
                <a:r>
                  <a:rPr lang="en-IN" dirty="0"/>
                  <a:t>is the regularization coefficient</a:t>
                </a:r>
              </a:p>
              <a:p>
                <a:r>
                  <a:rPr lang="en-IN" dirty="0"/>
                  <a:t>Configuration:</a:t>
                </a:r>
                <a:br>
                  <a:rPr lang="en-IN" dirty="0"/>
                </a:br>
                <a:r>
                  <a:rPr lang="en-IN" dirty="0"/>
                  <a:t>• L2 regularization</a:t>
                </a:r>
                <a:br>
                  <a:rPr lang="en-IN" dirty="0"/>
                </a:br>
                <a:r>
                  <a:rPr lang="en-IN" dirty="0"/>
                  <a:t>• Balanced class weights</a:t>
                </a:r>
                <a:br>
                  <a:rPr lang="en-IN" dirty="0"/>
                </a:br>
                <a:r>
                  <a:rPr lang="en-IN" dirty="0"/>
                  <a:t>• Maximum iterations: 1000</a:t>
                </a:r>
                <a:br>
                  <a:rPr lang="en-IN" dirty="0"/>
                </a:br>
                <a:r>
                  <a:rPr lang="en-IN" dirty="0"/>
                  <a:t>• 80:20 train test split</a:t>
                </a:r>
                <a:br>
                  <a:rPr lang="en-IN" dirty="0"/>
                </a:br>
                <a:r>
                  <a:rPr lang="en-IN" dirty="0"/>
                  <a:t>• 5 fold cross </a:t>
                </a:r>
                <a:r>
                  <a:rPr lang="en-IN" dirty="0" smtClean="0"/>
                  <a:t>validation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90" y="1133356"/>
                <a:ext cx="6991927" cy="5724644"/>
              </a:xfrm>
              <a:prstGeom prst="rect">
                <a:avLst/>
              </a:prstGeom>
              <a:blipFill rotWithShape="0">
                <a:blip r:embed="rId2"/>
                <a:stretch>
                  <a:fillRect l="-1308" t="-7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918036" y="1330035"/>
            <a:ext cx="46927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accent1"/>
                </a:solidFill>
              </a:rPr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Code </a:t>
            </a:r>
            <a:r>
              <a:rPr lang="en-IN" dirty="0"/>
              <a:t>pushed to GitHub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Repository linked to Render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Build command executed: </a:t>
            </a:r>
            <a:endParaRPr lang="en-IN" dirty="0" smtClean="0"/>
          </a:p>
          <a:p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 smtClean="0">
                <a:latin typeface="Gabriola" panose="04040605051002020D02" pitchFamily="82" charset="0"/>
              </a:rPr>
              <a:t>pip </a:t>
            </a:r>
            <a:r>
              <a:rPr lang="en-IN" dirty="0">
                <a:latin typeface="Gabriola" panose="04040605051002020D02" pitchFamily="82" charset="0"/>
              </a:rPr>
              <a:t>install -r requirements.txt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Application started using: </a:t>
            </a:r>
            <a:endParaRPr lang="en-IN" dirty="0" smtClean="0"/>
          </a:p>
          <a:p>
            <a:r>
              <a:rPr lang="en-IN" dirty="0"/>
              <a:t> </a:t>
            </a:r>
            <a:r>
              <a:rPr lang="en-IN" dirty="0" smtClean="0"/>
              <a:t>     </a:t>
            </a:r>
            <a:r>
              <a:rPr lang="en-IN" dirty="0" err="1" smtClean="0">
                <a:latin typeface="Gabriola" panose="04040605051002020D02" pitchFamily="82" charset="0"/>
              </a:rPr>
              <a:t>gunicorn</a:t>
            </a:r>
            <a:r>
              <a:rPr lang="en-IN" dirty="0" smtClean="0"/>
              <a:t> </a:t>
            </a:r>
            <a:r>
              <a:rPr lang="en-IN" dirty="0" err="1">
                <a:latin typeface="Gabriola" panose="04040605051002020D02" pitchFamily="82" charset="0"/>
              </a:rPr>
              <a:t>app:app</a:t>
            </a:r>
            <a:endParaRPr lang="en-IN" dirty="0">
              <a:latin typeface="Gabriola" panose="04040605051002020D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Public URL generated for global </a:t>
            </a:r>
            <a:r>
              <a:rPr lang="en-IN" dirty="0" smtClean="0"/>
              <a:t>access</a:t>
            </a:r>
          </a:p>
          <a:p>
            <a:pPr algn="ctr"/>
            <a:r>
              <a:rPr lang="en-IN" dirty="0">
                <a:solidFill>
                  <a:srgbClr val="0070C0"/>
                </a:solidFill>
                <a:latin typeface="Gabriola" panose="04040605051002020D02" pitchFamily="82" charset="0"/>
                <a:hlinkClick r:id="rId3"/>
              </a:rPr>
              <a:t>https://fake-news-detector-ai-0izj.onrender.com/</a:t>
            </a:r>
            <a:endParaRPr lang="en-IN" dirty="0">
              <a:solidFill>
                <a:srgbClr val="0070C0"/>
              </a:solidFill>
              <a:latin typeface="Gabriola" panose="04040605051002020D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supports auto scaling and automatic wake on request.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06399" y="1232452"/>
            <a:ext cx="985520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rgbClr val="7030A0"/>
                </a:solidFill>
              </a:rPr>
              <a:t>Dataset Statistics: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Total Articles: 44,898</a:t>
            </a:r>
            <a:br>
              <a:rPr lang="en-IN" dirty="0" smtClean="0"/>
            </a:br>
            <a:r>
              <a:rPr lang="en-IN" dirty="0" smtClean="0"/>
              <a:t>Real: 22,458</a:t>
            </a:r>
            <a:br>
              <a:rPr lang="en-IN" dirty="0" smtClean="0"/>
            </a:br>
            <a:r>
              <a:rPr lang="en-IN" dirty="0" smtClean="0"/>
              <a:t>Fake: 22,440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solidFill>
                  <a:srgbClr val="7030A0"/>
                </a:solidFill>
              </a:rPr>
              <a:t>Performance Metrics:</a:t>
            </a:r>
          </a:p>
          <a:p>
            <a:r>
              <a:rPr lang="en-IN" b="1" dirty="0">
                <a:solidFill>
                  <a:srgbClr val="7030A0"/>
                </a:solidFill>
              </a:rPr>
              <a:t> </a:t>
            </a:r>
            <a:r>
              <a:rPr lang="en-IN" b="1" dirty="0" smtClean="0">
                <a:solidFill>
                  <a:srgbClr val="7030A0"/>
                </a:solidFill>
              </a:rPr>
              <a:t>     </a:t>
            </a:r>
            <a:r>
              <a:rPr lang="en-IN" dirty="0" smtClean="0"/>
              <a:t>Accuracy</a:t>
            </a:r>
            <a:r>
              <a:rPr lang="en-IN" dirty="0"/>
              <a:t>: 98.5 percent</a:t>
            </a:r>
            <a:br>
              <a:rPr lang="en-IN" dirty="0"/>
            </a:br>
            <a:r>
              <a:rPr lang="en-IN" dirty="0" smtClean="0"/>
              <a:t>      Precision</a:t>
            </a:r>
            <a:r>
              <a:rPr lang="en-IN" dirty="0"/>
              <a:t>: 0.98</a:t>
            </a:r>
            <a:br>
              <a:rPr lang="en-IN" dirty="0"/>
            </a:br>
            <a:r>
              <a:rPr lang="en-IN" dirty="0" smtClean="0"/>
              <a:t>      Recall</a:t>
            </a:r>
            <a:r>
              <a:rPr lang="en-IN" dirty="0"/>
              <a:t>: 0.98</a:t>
            </a:r>
            <a:br>
              <a:rPr lang="en-IN" dirty="0"/>
            </a:br>
            <a:r>
              <a:rPr lang="en-IN" dirty="0" smtClean="0"/>
              <a:t>      F1 </a:t>
            </a:r>
            <a:r>
              <a:rPr lang="en-IN" dirty="0"/>
              <a:t>Score: 0.98</a:t>
            </a:r>
            <a:br>
              <a:rPr lang="en-IN" dirty="0"/>
            </a:br>
            <a:r>
              <a:rPr lang="en-IN" dirty="0" smtClean="0"/>
              <a:t>      ROC </a:t>
            </a:r>
            <a:r>
              <a:rPr lang="en-IN" dirty="0"/>
              <a:t>AUC: </a:t>
            </a:r>
            <a:r>
              <a:rPr lang="en-IN" dirty="0" smtClean="0"/>
              <a:t>0.99</a:t>
            </a:r>
          </a:p>
          <a:p>
            <a:r>
              <a:rPr lang="en-IN" b="1" dirty="0" smtClean="0">
                <a:solidFill>
                  <a:srgbClr val="7030A0"/>
                </a:solidFill>
              </a:rPr>
              <a:t>3. Confusion Matrix Summary:</a:t>
            </a:r>
          </a:p>
          <a:p>
            <a:r>
              <a:rPr lang="en-IN" dirty="0" smtClean="0"/>
              <a:t>     True </a:t>
            </a:r>
            <a:r>
              <a:rPr lang="en-IN" dirty="0"/>
              <a:t>Fake: 4392</a:t>
            </a:r>
            <a:br>
              <a:rPr lang="en-IN" dirty="0"/>
            </a:br>
            <a:r>
              <a:rPr lang="en-IN" dirty="0" smtClean="0"/>
              <a:t>     False </a:t>
            </a:r>
            <a:r>
              <a:rPr lang="en-IN" dirty="0"/>
              <a:t>Negative: 86</a:t>
            </a:r>
            <a:br>
              <a:rPr lang="en-IN" dirty="0"/>
            </a:br>
            <a:r>
              <a:rPr lang="en-IN" dirty="0" smtClean="0"/>
              <a:t>     False </a:t>
            </a:r>
            <a:r>
              <a:rPr lang="en-IN" dirty="0"/>
              <a:t>Positive: 52</a:t>
            </a:r>
            <a:br>
              <a:rPr lang="en-IN" dirty="0"/>
            </a:br>
            <a:r>
              <a:rPr lang="en-IN" dirty="0" smtClean="0"/>
              <a:t>      True </a:t>
            </a:r>
            <a:r>
              <a:rPr lang="en-IN" dirty="0"/>
              <a:t>Real: 4470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Average inference time per article is less than 2 seconds.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The classifier demonstrates high discriminative capability and strong generalization on test data.</a:t>
            </a:r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191" y="702156"/>
            <a:ext cx="4436409" cy="248438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191" y="3269673"/>
            <a:ext cx="4436409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RESULT SNAPSHOTS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1329459"/>
            <a:ext cx="5907573" cy="46736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644" y="1439958"/>
            <a:ext cx="4774501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4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5672" y="1459346"/>
            <a:ext cx="112406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 successfully demonstrates that classical machine learning methods combined with robust text preprocessing can achieve high accuracy in fake news classification tasks.</a:t>
            </a:r>
          </a:p>
          <a:p>
            <a:r>
              <a:rPr lang="en-US" dirty="0"/>
              <a:t>Key achievements: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High </a:t>
            </a:r>
            <a:r>
              <a:rPr lang="en-US" dirty="0"/>
              <a:t>accuracy and balanced </a:t>
            </a:r>
            <a:r>
              <a:rPr lang="en-US" dirty="0" smtClean="0"/>
              <a:t>performance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Low </a:t>
            </a:r>
            <a:r>
              <a:rPr lang="en-US" dirty="0"/>
              <a:t>latency </a:t>
            </a:r>
            <a:r>
              <a:rPr lang="en-US" dirty="0" smtClean="0"/>
              <a:t>prediction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Scalable </a:t>
            </a:r>
            <a:r>
              <a:rPr lang="en-US" dirty="0"/>
              <a:t>web based </a:t>
            </a:r>
            <a:r>
              <a:rPr lang="en-US" dirty="0" smtClean="0"/>
              <a:t>implementation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Successful </a:t>
            </a:r>
            <a:r>
              <a:rPr lang="en-US" dirty="0"/>
              <a:t>cloud deployment</a:t>
            </a:r>
          </a:p>
          <a:p>
            <a:r>
              <a:rPr lang="en-US" dirty="0"/>
              <a:t>The system provides a practical tool for assisting users in identifying potentially misleading content.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131" y="1450109"/>
            <a:ext cx="112406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Integration of Transformer based architectures such as BERT for improved contextual understanding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Multilingual support for regional language news detection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Development of browser extension for real time verification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Public REST API for third party integration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Mobile application development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Future work will focus on improving robustness against adversarial text manipulation and concept drift.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1192" y="1527142"/>
            <a:ext cx="10947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81192" y="1357745"/>
            <a:ext cx="107241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 smtClean="0"/>
              <a:t>Datasets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Fake and Real News Dataset, </a:t>
            </a:r>
            <a:r>
              <a:rPr lang="en-IN" dirty="0" err="1" smtClean="0"/>
              <a:t>Kaggle</a:t>
            </a:r>
            <a:r>
              <a:rPr lang="en-IN" dirty="0"/>
              <a:t> </a:t>
            </a:r>
            <a:endParaRPr lang="en-IN" dirty="0" smtClean="0"/>
          </a:p>
          <a:p>
            <a:r>
              <a:rPr lang="en-IN" dirty="0"/>
              <a:t> </a:t>
            </a:r>
            <a:r>
              <a:rPr lang="en-IN" dirty="0" smtClean="0"/>
              <a:t>        </a:t>
            </a:r>
            <a:r>
              <a:rPr lang="en-IN" dirty="0" smtClean="0">
                <a:hlinkClick r:id="rId2"/>
              </a:rPr>
              <a:t>https</a:t>
            </a:r>
            <a:r>
              <a:rPr lang="en-IN" dirty="0">
                <a:hlinkClick r:id="rId2"/>
              </a:rPr>
              <a:t>://</a:t>
            </a:r>
            <a:r>
              <a:rPr lang="en-IN" dirty="0" smtClean="0">
                <a:hlinkClick r:id="rId2"/>
              </a:rPr>
              <a:t>www.kaggle.com/datasets/clmentbisaillon/fake-and-real-news-dataset</a:t>
            </a:r>
            <a:endParaRPr lang="en-IN" dirty="0"/>
          </a:p>
          <a:p>
            <a:r>
              <a:rPr lang="en-IN" dirty="0" smtClean="0"/>
              <a:t>2. Libraries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Scikit learn Documentation</a:t>
            </a:r>
            <a:br>
              <a:rPr lang="en-IN" dirty="0"/>
            </a:br>
            <a:r>
              <a:rPr lang="en-IN" dirty="0"/>
              <a:t>• Flask Documentation</a:t>
            </a:r>
            <a:br>
              <a:rPr lang="en-IN" dirty="0"/>
            </a:br>
            <a:r>
              <a:rPr lang="en-IN" dirty="0"/>
              <a:t>• NLTK </a:t>
            </a:r>
            <a:r>
              <a:rPr lang="en-IN" dirty="0" smtClean="0"/>
              <a:t>Documentation</a:t>
            </a:r>
          </a:p>
          <a:p>
            <a:r>
              <a:rPr lang="en-IN" dirty="0" smtClean="0"/>
              <a:t>3. Research </a:t>
            </a:r>
            <a:r>
              <a:rPr lang="en-IN" dirty="0"/>
              <a:t>Papers</a:t>
            </a:r>
            <a:br>
              <a:rPr lang="en-IN" dirty="0"/>
            </a:br>
            <a:r>
              <a:rPr lang="en-IN" dirty="0"/>
              <a:t>• Fake News Detection Using Machine Learning, IEEE 2021</a:t>
            </a:r>
            <a:br>
              <a:rPr lang="en-IN" dirty="0"/>
            </a:br>
            <a:r>
              <a:rPr lang="en-IN" dirty="0"/>
              <a:t>• Survey on Fake News Detection Techniques, Springer 2022</a:t>
            </a:r>
            <a:br>
              <a:rPr lang="en-IN" dirty="0"/>
            </a:br>
            <a:r>
              <a:rPr lang="en-IN" dirty="0"/>
              <a:t>• Combating Fake News, ACM Computing Surveys 2023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81192" y="1939636"/>
            <a:ext cx="99759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 err="1" smtClean="0"/>
              <a:t>Github</a:t>
            </a:r>
            <a:r>
              <a:rPr lang="en-US" sz="2000" b="1" dirty="0" smtClean="0"/>
              <a:t> </a:t>
            </a:r>
            <a:r>
              <a:rPr lang="en-US" sz="2000" b="1" dirty="0"/>
              <a:t>Link: </a:t>
            </a:r>
            <a:r>
              <a:rPr lang="en-US" sz="2000" b="1" dirty="0">
                <a:hlinkClick r:id="rId2"/>
              </a:rPr>
              <a:t>https://github.com/Aabidnabi/fake-news-detector-ai</a:t>
            </a:r>
            <a:endParaRPr lang="en-US" sz="2000" b="1" dirty="0" smtClean="0"/>
          </a:p>
          <a:p>
            <a:pPr>
              <a:lnSpc>
                <a:spcPct val="200000"/>
              </a:lnSpc>
            </a:pPr>
            <a:r>
              <a:rPr lang="en-US" sz="2000" b="1" dirty="0" smtClean="0"/>
              <a:t>Deployment </a:t>
            </a:r>
            <a:r>
              <a:rPr lang="en-US" sz="2000" b="1" dirty="0"/>
              <a:t>Link: </a:t>
            </a:r>
            <a:r>
              <a:rPr lang="en-US" sz="2000" b="1" dirty="0">
                <a:hlinkClick r:id="rId3"/>
              </a:rPr>
              <a:t>https://fake-news-detector-ai-0izj.onrender.com/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microsoft.com/office/2006/metadata/properties"/>
    <ds:schemaRef ds:uri="c0fa2617-96bd-425d-8578-e93563fe37c5"/>
    <ds:schemaRef ds:uri="9162bd5b-4ed9-4da3-b376-05204580ba3f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1104</TotalTime>
  <Words>449</Words>
  <Application>Microsoft Office PowerPoint</Application>
  <PresentationFormat>Widescreen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Corbel</vt:lpstr>
      <vt:lpstr>Franklin Gothic Book</vt:lpstr>
      <vt:lpstr>Franklin Gothic Demi</vt:lpstr>
      <vt:lpstr>Gabriola</vt:lpstr>
      <vt:lpstr>Wingdings</vt:lpstr>
      <vt:lpstr>Wingdings 2</vt:lpstr>
      <vt:lpstr>DividendVTI</vt:lpstr>
      <vt:lpstr>AI- BASED FAKE NEWS DETECTOR</vt:lpstr>
      <vt:lpstr>OUTLINE</vt:lpstr>
      <vt:lpstr>Problem Statement</vt:lpstr>
      <vt:lpstr>Proposed Solution</vt:lpstr>
      <vt:lpstr>System DEVELOPMENT Approach</vt:lpstr>
      <vt:lpstr>Algorithm &amp; Deployment</vt:lpstr>
      <vt:lpstr>Result</vt:lpstr>
      <vt:lpstr>RESULT SNAPSHOTS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Microsoft account</cp:lastModifiedBy>
  <cp:revision>47</cp:revision>
  <dcterms:created xsi:type="dcterms:W3CDTF">2021-05-26T16:50:10Z</dcterms:created>
  <dcterms:modified xsi:type="dcterms:W3CDTF">2026-02-28T07:23:04Z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